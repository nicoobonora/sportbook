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097280"/>
            <a:ext cx="100584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1A56DB"/>
                </a:solidFill>
                <a:latin typeface="Calibri"/>
              </a:defRPr>
            </a:pPr>
            <a:r>
              <a:t>prenotauncampetto.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10058400" cy="1371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5400" b="1">
                <a:solidFill>
                  <a:srgbClr val="FFFFFF"/>
                </a:solidFill>
                <a:latin typeface="Calibri"/>
              </a:defRPr>
            </a:pPr>
            <a:r>
              <a:t>Guida per Gestori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383280"/>
            <a:ext cx="73152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200" b="0">
                <a:solidFill>
                  <a:srgbClr val="64748B"/>
                </a:solidFill>
                <a:latin typeface="Calibri"/>
              </a:defRPr>
            </a:pPr>
            <a:r>
              <a:t>Come gestire il tuo circolo sportivo con il pannello di amministrazione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4754880"/>
            <a:ext cx="1371600" cy="54864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14400" y="5303520"/>
            <a:ext cx="1188720" cy="411480"/>
          </a:xfrm>
          <a:prstGeom prst="roundRect">
            <a:avLst/>
          </a:prstGeom>
          <a:solidFill>
            <a:srgbClr val="2D3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>
                <a:solidFill>
                  <a:srgbClr val="FFFFFF"/>
                </a:solidFill>
                <a:latin typeface="Calibri"/>
              </a:defRPr>
            </a:pPr>
            <a:r>
              <a:t>Calcetto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286000" y="5303520"/>
            <a:ext cx="1188720" cy="411480"/>
          </a:xfrm>
          <a:prstGeom prst="roundRect">
            <a:avLst/>
          </a:prstGeom>
          <a:solidFill>
            <a:srgbClr val="2D3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>
                <a:solidFill>
                  <a:srgbClr val="FFFFFF"/>
                </a:solidFill>
                <a:latin typeface="Calibri"/>
              </a:defRPr>
            </a:pPr>
            <a:r>
              <a:t>Padel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0" y="5303520"/>
            <a:ext cx="1188720" cy="411480"/>
          </a:xfrm>
          <a:prstGeom prst="roundRect">
            <a:avLst/>
          </a:prstGeom>
          <a:solidFill>
            <a:srgbClr val="2D3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>
                <a:solidFill>
                  <a:srgbClr val="FFFFFF"/>
                </a:solidFill>
                <a:latin typeface="Calibri"/>
              </a:defRPr>
            </a:pPr>
            <a:r>
              <a:t>Tennis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0" y="5303520"/>
            <a:ext cx="1188720" cy="411480"/>
          </a:xfrm>
          <a:prstGeom prst="roundRect">
            <a:avLst/>
          </a:prstGeom>
          <a:solidFill>
            <a:srgbClr val="2D3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>
                <a:solidFill>
                  <a:srgbClr val="FFFFFF"/>
                </a:solidFill>
                <a:latin typeface="Calibri"/>
              </a:defRPr>
            </a:pPr>
            <a:r>
              <a:t>Calcio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5303520"/>
            <a:ext cx="1188720" cy="411480"/>
          </a:xfrm>
          <a:prstGeom prst="roundRect">
            <a:avLst/>
          </a:prstGeom>
          <a:solidFill>
            <a:srgbClr val="2D3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>
                <a:solidFill>
                  <a:srgbClr val="FFFFFF"/>
                </a:solidFill>
                <a:latin typeface="Calibri"/>
              </a:defRPr>
            </a:pPr>
            <a:r>
              <a:t>Basket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91440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Cos'è prenotauncampetto?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5029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400" b="1">
                <a:solidFill>
                  <a:srgbClr val="1E293B"/>
                </a:solidFill>
                <a:latin typeface="Calibri"/>
              </a:defRPr>
            </a:pPr>
            <a:r>
              <a:t>La piattaforma per i circoli sportivi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  <a:latin typeface="Calibri"/>
              </a:defRPr>
              <a:buChar char="•"/>
            </a:pPr>
            <a:r>
              <a:t>Pagina pubblica personalizzata per il tuo circolo</a:t>
            </a: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  <a:latin typeface="Calibri"/>
              </a:defRPr>
              <a:buChar char="•"/>
            </a:pPr>
            <a:r>
              <a:t>Sistema di prenotazione online per i tuoi utenti</a:t>
            </a: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  <a:latin typeface="Calibri"/>
              </a:defRPr>
              <a:buChar char="•"/>
            </a:pPr>
            <a:r>
              <a:t>Pannello admin dedicato per gestire tutto</a:t>
            </a: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  <a:latin typeface="Calibri"/>
              </a:defRPr>
              <a:buChar char="•"/>
            </a:pPr>
            <a:r>
              <a:t>Visibilità sulla mappa nazionale dei circoli</a:t>
            </a: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  <a:latin typeface="Calibri"/>
              </a:defRPr>
              <a:buChar char="•"/>
            </a:pPr>
            <a:r>
              <a:t>Gestione campi, orari e prenotazioni in un unico posto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645920"/>
            <a:ext cx="5029200" cy="4114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0" y="1920240"/>
            <a:ext cx="42976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000" b="1">
                <a:solidFill>
                  <a:srgbClr val="1A56DB"/>
                </a:solidFill>
                <a:latin typeface="Calibri"/>
              </a:defRPr>
            </a:pPr>
            <a:r>
              <a:t>Come funziona</a:t>
            </a:r>
          </a:p>
        </p:txBody>
      </p:sp>
      <p:sp>
        <p:nvSpPr>
          <p:cNvPr id="8" name="Oval 7"/>
          <p:cNvSpPr/>
          <p:nvPr/>
        </p:nvSpPr>
        <p:spPr>
          <a:xfrm>
            <a:off x="6766560" y="2468880"/>
            <a:ext cx="548640" cy="548640"/>
          </a:xfrm>
          <a:prstGeom prst="ellipse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43800" y="2450592"/>
            <a:ext cx="3657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1E293B"/>
                </a:solidFill>
                <a:latin typeface="Calibri"/>
              </a:defRPr>
            </a:pPr>
            <a:r>
              <a:t>Registra il circolo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43800" y="2788920"/>
            <a:ext cx="36576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64748B"/>
                </a:solidFill>
                <a:latin typeface="Calibri"/>
              </a:defRPr>
            </a:pPr>
            <a:r>
              <a:t>Crea il tuo profilo con info e contatti</a:t>
            </a:r>
          </a:p>
        </p:txBody>
      </p:sp>
      <p:sp>
        <p:nvSpPr>
          <p:cNvPr id="11" name="Oval 10"/>
          <p:cNvSpPr/>
          <p:nvPr/>
        </p:nvSpPr>
        <p:spPr>
          <a:xfrm>
            <a:off x="6766560" y="3337560"/>
            <a:ext cx="548640" cy="548640"/>
          </a:xfrm>
          <a:prstGeom prst="ellipse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43800" y="3319272"/>
            <a:ext cx="3657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1E293B"/>
                </a:solidFill>
                <a:latin typeface="Calibri"/>
              </a:defRPr>
            </a:pPr>
            <a:r>
              <a:t>Configura i campi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43800" y="3657600"/>
            <a:ext cx="36576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64748B"/>
                </a:solidFill>
                <a:latin typeface="Calibri"/>
              </a:defRPr>
            </a:pPr>
            <a:r>
              <a:t>Aggiungi strutture, sport e capacità</a:t>
            </a:r>
          </a:p>
        </p:txBody>
      </p:sp>
      <p:sp>
        <p:nvSpPr>
          <p:cNvPr id="14" name="Oval 13"/>
          <p:cNvSpPr/>
          <p:nvPr/>
        </p:nvSpPr>
        <p:spPr>
          <a:xfrm>
            <a:off x="6766560" y="4206240"/>
            <a:ext cx="548640" cy="548640"/>
          </a:xfrm>
          <a:prstGeom prst="ellipse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43800" y="4187952"/>
            <a:ext cx="3657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1E293B"/>
                </a:solidFill>
                <a:latin typeface="Calibri"/>
              </a:defRPr>
            </a:pPr>
            <a:r>
              <a:t>Imposta gli orari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43800" y="4526280"/>
            <a:ext cx="36576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64748B"/>
                </a:solidFill>
                <a:latin typeface="Calibri"/>
              </a:defRPr>
            </a:pPr>
            <a:r>
              <a:t>Definisci fasce orarie e prezzi</a:t>
            </a:r>
          </a:p>
        </p:txBody>
      </p:sp>
      <p:sp>
        <p:nvSpPr>
          <p:cNvPr id="17" name="Oval 16"/>
          <p:cNvSpPr/>
          <p:nvPr/>
        </p:nvSpPr>
        <p:spPr>
          <a:xfrm>
            <a:off x="6766560" y="5074920"/>
            <a:ext cx="548640" cy="548640"/>
          </a:xfrm>
          <a:prstGeom prst="ellipse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43800" y="5056632"/>
            <a:ext cx="3657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1E293B"/>
                </a:solidFill>
                <a:latin typeface="Calibri"/>
              </a:defRPr>
            </a:pPr>
            <a:r>
              <a:t>Ricevi prenotazioni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43800" y="5394960"/>
            <a:ext cx="36576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64748B"/>
                </a:solidFill>
                <a:latin typeface="Calibri"/>
              </a:defRPr>
            </a:pPr>
            <a:r>
              <a:t>Gli utenti prenotano, tu confermi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91440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Accesso al Pannello Admin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029200" cy="2011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91440" cy="201168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828800"/>
            <a:ext cx="43891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000" b="1">
                <a:solidFill>
                  <a:srgbClr val="1E293B"/>
                </a:solidFill>
                <a:latin typeface="Calibri"/>
              </a:defRPr>
            </a:pPr>
            <a:r>
              <a:t>1  Vai al tuo sito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286000"/>
            <a:ext cx="438912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0">
                <a:solidFill>
                  <a:srgbClr val="64748B"/>
                </a:solidFill>
                <a:latin typeface="Calibri"/>
              </a:defRPr>
            </a:pPr>
            <a:r>
              <a:t>Vai alla pagina del tuo circolo e clicca su</a:t>
            </a:r>
            <a:br/>
            <a:r>
              <a:t>"Area Riservata" nel footer del sito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0" y="3017520"/>
            <a:ext cx="4389120" cy="411480"/>
          </a:xfrm>
          <a:prstGeom prst="round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>
                <a:solidFill>
                  <a:srgbClr val="1A56DB"/>
                </a:solidFill>
                <a:latin typeface="Calibri"/>
              </a:defRPr>
            </a:pPr>
            <a:r>
              <a:t>tuocircolo.prenotauncampetto.it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1645920"/>
            <a:ext cx="5029200" cy="2011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0" y="1645920"/>
            <a:ext cx="91440" cy="20116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66560" y="1828800"/>
            <a:ext cx="43891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000" b="1">
                <a:solidFill>
                  <a:srgbClr val="1E293B"/>
                </a:solidFill>
                <a:latin typeface="Calibri"/>
              </a:defRPr>
            </a:pPr>
            <a:r>
              <a:t>2  Inserisci le credenziali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0" y="2286000"/>
            <a:ext cx="438912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0">
                <a:solidFill>
                  <a:srgbClr val="64748B"/>
                </a:solidFill>
                <a:latin typeface="Calibri"/>
              </a:defRPr>
            </a:pPr>
            <a:r>
              <a:t>Inserisci email e password che hai usato</a:t>
            </a:r>
            <a:br/>
            <a:r>
              <a:t>in fase di registrazione e clicca "Accedi"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766560" y="2926080"/>
            <a:ext cx="4389120" cy="457200"/>
          </a:xfrm>
          <a:prstGeom prst="round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E293B"/>
                </a:solidFill>
                <a:latin typeface="Calibri"/>
              </a:defRPr>
            </a:pPr>
            <a:r>
              <a:t>PANNELLO ADMIN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114800"/>
            <a:ext cx="10698480" cy="914400"/>
          </a:xfrm>
          <a:prstGeom prst="round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88720" y="4251960"/>
            <a:ext cx="96012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0">
                <a:solidFill>
                  <a:srgbClr val="1E293B"/>
                </a:solidFill>
                <a:latin typeface="Calibri"/>
              </a:defRPr>
            </a:pPr>
            <a:r>
              <a:t>💡  Il pannello admin è accessibile anche direttamente da:  tuocircolo.prenotauncampetto.it/admin/login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303520"/>
            <a:ext cx="10058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1E293B"/>
                </a:solidFill>
                <a:latin typeface="Calibri"/>
              </a:defRPr>
            </a:pPr>
            <a:r>
              <a:t>Il menu laterale contiene 5 sezioni: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5806440"/>
            <a:ext cx="1920240" cy="7315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31520" y="5806440"/>
            <a:ext cx="1920240" cy="54864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5897880"/>
            <a:ext cx="16459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1E293B"/>
                </a:solidFill>
                <a:latin typeface="Calibri"/>
              </a:defRPr>
            </a:pPr>
            <a:r>
              <a:t>Dashboard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6172200"/>
            <a:ext cx="16459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64748B"/>
                </a:solidFill>
                <a:latin typeface="Calibri"/>
              </a:defRPr>
            </a:pPr>
            <a:r>
              <a:t>Panoramica generale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880360" y="5806440"/>
            <a:ext cx="1920240" cy="7315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880360" y="5806440"/>
            <a:ext cx="192024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017520" y="5897880"/>
            <a:ext cx="16459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1E293B"/>
                </a:solidFill>
                <a:latin typeface="Calibri"/>
              </a:defRPr>
            </a:pPr>
            <a:r>
              <a:t>Prenotazioni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017520" y="6172200"/>
            <a:ext cx="16459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64748B"/>
                </a:solidFill>
                <a:latin typeface="Calibri"/>
              </a:defRPr>
            </a:pPr>
            <a:r>
              <a:t>Gestione booking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29200" y="5806440"/>
            <a:ext cx="1920240" cy="7315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029200" y="5806440"/>
            <a:ext cx="192024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166360" y="5897880"/>
            <a:ext cx="16459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1E293B"/>
                </a:solidFill>
                <a:latin typeface="Calibri"/>
              </a:defRPr>
            </a:pPr>
            <a:r>
              <a:t>Slot &amp; Orari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166360" y="6172200"/>
            <a:ext cx="16459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64748B"/>
                </a:solidFill>
                <a:latin typeface="Calibri"/>
              </a:defRPr>
            </a:pPr>
            <a:r>
              <a:t>Fasce orarie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178040" y="5806440"/>
            <a:ext cx="1920240" cy="7315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178040" y="5806440"/>
            <a:ext cx="1920240" cy="54864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0" y="5897880"/>
            <a:ext cx="16459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1E293B"/>
                </a:solidFill>
                <a:latin typeface="Calibri"/>
              </a:defRPr>
            </a:pPr>
            <a:r>
              <a:t>Annunci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0" y="6172200"/>
            <a:ext cx="16459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64748B"/>
                </a:solidFill>
                <a:latin typeface="Calibri"/>
              </a:defRPr>
            </a:pPr>
            <a:r>
              <a:t>Comunicazioni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326880" y="5806440"/>
            <a:ext cx="1920240" cy="7315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326880" y="5806440"/>
            <a:ext cx="1920240" cy="54864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464040" y="5897880"/>
            <a:ext cx="16459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1E293B"/>
                </a:solidFill>
                <a:latin typeface="Calibri"/>
              </a:defRPr>
            </a:pPr>
            <a:r>
              <a:t>Impostazioni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464040" y="6172200"/>
            <a:ext cx="16459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64748B"/>
                </a:solidFill>
                <a:latin typeface="Calibri"/>
              </a:defRPr>
            </a:pPr>
            <a:r>
              <a:t>Config circolo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91440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Dashboard — Panoramica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058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0">
                <a:solidFill>
                  <a:srgbClr val="64748B"/>
                </a:solidFill>
                <a:latin typeface="Calibri"/>
              </a:defRPr>
            </a:pPr>
            <a:r>
              <a:t>La dashboard ti mostra a colpo d'occhio lo stato del tuo circolo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103120"/>
            <a:ext cx="2468880" cy="2011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2103120"/>
            <a:ext cx="246888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286000"/>
            <a:ext cx="21031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64748B"/>
                </a:solidFill>
                <a:latin typeface="Calibri"/>
              </a:defRPr>
            </a:pPr>
            <a:r>
              <a:t>In attesa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697480"/>
            <a:ext cx="210312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4400" b="1">
                <a:solidFill>
                  <a:srgbClr val="1E293B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383280"/>
            <a:ext cx="210312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64748B"/>
                </a:solidFill>
                <a:latin typeface="Calibri"/>
              </a:defRPr>
            </a:pPr>
            <a:r>
              <a:t>Prenotazioni da</a:t>
            </a:r>
            <a:br/>
            <a:r>
              <a:t>confermare o rifiutare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0" y="2103120"/>
            <a:ext cx="2468880" cy="2011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74720" y="2103120"/>
            <a:ext cx="246888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0" y="2286000"/>
            <a:ext cx="21031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64748B"/>
                </a:solidFill>
                <a:latin typeface="Calibri"/>
              </a:defRPr>
            </a:pPr>
            <a:r>
              <a:t>Confermate oggi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2697480"/>
            <a:ext cx="210312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4400" b="1">
                <a:solidFill>
                  <a:srgbClr val="1E293B"/>
                </a:solidFill>
                <a:latin typeface="Calibri"/>
              </a:defRPr>
            </a:pPr>
            <a:r>
              <a:t>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3383280"/>
            <a:ext cx="210312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64748B"/>
                </a:solidFill>
                <a:latin typeface="Calibri"/>
              </a:defRPr>
            </a:pPr>
            <a:r>
              <a:t>Prenotazioni confermate</a:t>
            </a:r>
            <a:br/>
            <a:r>
              <a:t>per la giornata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2103120"/>
            <a:ext cx="2468880" cy="2011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17920" y="2103120"/>
            <a:ext cx="2468880" cy="54864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2286000"/>
            <a:ext cx="21031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64748B"/>
                </a:solidFill>
                <a:latin typeface="Calibri"/>
              </a:defRPr>
            </a:pPr>
            <a:r>
              <a:t>Questo mese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2697480"/>
            <a:ext cx="210312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4400" b="1">
                <a:solidFill>
                  <a:srgbClr val="1E293B"/>
                </a:solidFill>
                <a:latin typeface="Calibri"/>
              </a:defRPr>
            </a:pPr>
            <a:r>
              <a:t>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3383280"/>
            <a:ext cx="210312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64748B"/>
                </a:solidFill>
                <a:latin typeface="Calibri"/>
              </a:defRPr>
            </a:pPr>
            <a:r>
              <a:t>Totale prenotazioni</a:t>
            </a:r>
            <a:br/>
            <a:r>
              <a:t>ricevute nel mese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61120" y="2103120"/>
            <a:ext cx="2468880" cy="2011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961120" y="2103120"/>
            <a:ext cx="2468880" cy="54864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0" y="2286000"/>
            <a:ext cx="21031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64748B"/>
                </a:solidFill>
                <a:latin typeface="Calibri"/>
              </a:defRPr>
            </a:pPr>
            <a:r>
              <a:t>Annunci attivi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0" y="2697480"/>
            <a:ext cx="210312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4400" b="1">
                <a:solidFill>
                  <a:srgbClr val="1E293B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0" y="3383280"/>
            <a:ext cx="210312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64748B"/>
                </a:solidFill>
                <a:latin typeface="Calibri"/>
              </a:defRPr>
            </a:pPr>
            <a:r>
              <a:t>Comunicazioni attive</a:t>
            </a:r>
            <a:br/>
            <a:r>
              <a:t>sul tuo sito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4480560"/>
            <a:ext cx="4572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200" b="1">
                <a:solidFill>
                  <a:srgbClr val="1E293B"/>
                </a:solidFill>
                <a:latin typeface="Calibri"/>
              </a:defRPr>
            </a:pPr>
            <a:r>
              <a:t>Prenotazioni recenti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1520" y="4937760"/>
            <a:ext cx="10698480" cy="5486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05840" y="5001768"/>
            <a:ext cx="2286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1E293B"/>
                </a:solidFill>
                <a:latin typeface="Calibri"/>
              </a:defRPr>
            </a:pPr>
            <a:r>
              <a:t>Nico Bonora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74720" y="5001768"/>
            <a:ext cx="4572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64748B"/>
                </a:solidFill>
                <a:latin typeface="Calibri"/>
              </a:defRPr>
            </a:pPr>
            <a:r>
              <a:t>Campo padel 1 · 21 marzo · 10:00–13:00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326880" y="5029200"/>
            <a:ext cx="1371600" cy="347472"/>
          </a:xfrm>
          <a:prstGeom prst="round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0B981"/>
                </a:solidFill>
                <a:latin typeface="Calibri"/>
              </a:defRPr>
            </a:pPr>
            <a:r>
              <a:t>Confermata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31520" y="5577840"/>
            <a:ext cx="10698480" cy="5486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05840" y="5641848"/>
            <a:ext cx="2286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1E293B"/>
                </a:solidFill>
                <a:latin typeface="Calibri"/>
              </a:defRPr>
            </a:pPr>
            <a:r>
              <a:t>Nicola Bonora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474720" y="5641848"/>
            <a:ext cx="4572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64748B"/>
                </a:solidFill>
                <a:latin typeface="Calibri"/>
              </a:defRPr>
            </a:pPr>
            <a:r>
              <a:t>Campo padel 1 · 21 marzo · 14:30–16:30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326880" y="5669280"/>
            <a:ext cx="1371600" cy="347472"/>
          </a:xfrm>
          <a:prstGeom prst="round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59E0B"/>
                </a:solidFill>
                <a:latin typeface="Calibri"/>
              </a:defRPr>
            </a:pPr>
            <a:r>
              <a:t>In attesa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31520" y="6217920"/>
            <a:ext cx="10698480" cy="5486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05840" y="6281928"/>
            <a:ext cx="2286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1E293B"/>
                </a:solidFill>
                <a:latin typeface="Calibri"/>
              </a:defRPr>
            </a:pPr>
            <a:r>
              <a:t>bonni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474720" y="6281928"/>
            <a:ext cx="4572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64748B"/>
                </a:solidFill>
                <a:latin typeface="Calibri"/>
              </a:defRPr>
            </a:pPr>
            <a:r>
              <a:t>Campo padel 1 · 27 marzo · 14:30–17:30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326880" y="6309360"/>
            <a:ext cx="1371600" cy="347472"/>
          </a:xfrm>
          <a:prstGeom prst="round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0B981"/>
                </a:solidFill>
                <a:latin typeface="Calibri"/>
              </a:defRPr>
            </a:pPr>
            <a:r>
              <a:t>Confermata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91440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Gestione Prenotazioni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5029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200" b="1">
                <a:solidFill>
                  <a:srgbClr val="1E293B"/>
                </a:solidFill>
                <a:latin typeface="Calibri"/>
              </a:defRPr>
            </a:pPr>
            <a:r>
              <a:t>Vista settimanale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920240"/>
            <a:ext cx="5029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0">
                <a:solidFill>
                  <a:srgbClr val="64748B"/>
                </a:solidFill>
                <a:latin typeface="Calibri"/>
              </a:defRPr>
            </a:pPr>
            <a:r>
              <a:t>Le prenotazioni sono organizzate per settimana.</a:t>
            </a:r>
            <a:br/>
            <a:r>
              <a:t>Navighi avanti e indietro con le frecce.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651760"/>
            <a:ext cx="5029200" cy="1097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880360"/>
            <a:ext cx="5486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1">
                <a:solidFill>
                  <a:srgbClr val="1E293B"/>
                </a:solidFill>
                <a:latin typeface="Calibri"/>
              </a:defRPr>
            </a:pPr>
            <a:r>
              <a:t>Lun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154680"/>
            <a:ext cx="548640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0">
                <a:solidFill>
                  <a:srgbClr val="64748B"/>
                </a:solidFill>
                <a:latin typeface="Calibri"/>
              </a:defRPr>
            </a:pPr>
            <a:r>
              <a:t>16 mar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2880360"/>
            <a:ext cx="5486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1">
                <a:solidFill>
                  <a:srgbClr val="1E293B"/>
                </a:solidFill>
                <a:latin typeface="Calibri"/>
              </a:defRPr>
            </a:pPr>
            <a:r>
              <a:t>Mar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3154680"/>
            <a:ext cx="548640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0">
                <a:solidFill>
                  <a:srgbClr val="64748B"/>
                </a:solidFill>
                <a:latin typeface="Calibri"/>
              </a:defRPr>
            </a:pPr>
            <a:r>
              <a:t>17 mar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4560" y="2880360"/>
            <a:ext cx="5486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1">
                <a:solidFill>
                  <a:srgbClr val="1E293B"/>
                </a:solidFill>
                <a:latin typeface="Calibri"/>
              </a:defRPr>
            </a:pPr>
            <a:r>
              <a:t>Mer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94560" y="3154680"/>
            <a:ext cx="548640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0">
                <a:solidFill>
                  <a:srgbClr val="64748B"/>
                </a:solidFill>
                <a:latin typeface="Calibri"/>
              </a:defRPr>
            </a:pPr>
            <a:r>
              <a:t>18 mar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34640" y="2880360"/>
            <a:ext cx="5486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1">
                <a:solidFill>
                  <a:srgbClr val="1E293B"/>
                </a:solidFill>
                <a:latin typeface="Calibri"/>
              </a:defRPr>
            </a:pPr>
            <a:r>
              <a:t>Gio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34640" y="3154680"/>
            <a:ext cx="548640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0">
                <a:solidFill>
                  <a:srgbClr val="64748B"/>
                </a:solidFill>
                <a:latin typeface="Calibri"/>
              </a:defRPr>
            </a:pPr>
            <a:r>
              <a:t>19 mar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0" y="2880360"/>
            <a:ext cx="5486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1">
                <a:solidFill>
                  <a:srgbClr val="1E293B"/>
                </a:solidFill>
                <a:latin typeface="Calibri"/>
              </a:defRPr>
            </a:pPr>
            <a:r>
              <a:t>Ven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74720" y="3154680"/>
            <a:ext cx="548640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0">
                <a:solidFill>
                  <a:srgbClr val="64748B"/>
                </a:solidFill>
                <a:latin typeface="Calibri"/>
              </a:defRPr>
            </a:pPr>
            <a:r>
              <a:t>20 mar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114800" y="2834640"/>
            <a:ext cx="548640" cy="640080"/>
          </a:xfrm>
          <a:prstGeom prst="round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14800" y="2880360"/>
            <a:ext cx="5486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Sab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0" y="3154680"/>
            <a:ext cx="548640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21 mar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54880" y="2880360"/>
            <a:ext cx="5486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1">
                <a:solidFill>
                  <a:srgbClr val="1E293B"/>
                </a:solidFill>
                <a:latin typeface="Calibri"/>
              </a:defRPr>
            </a:pPr>
            <a:r>
              <a:t>Dom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54880" y="3154680"/>
            <a:ext cx="548640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0">
                <a:solidFill>
                  <a:srgbClr val="64748B"/>
                </a:solidFill>
                <a:latin typeface="Calibri"/>
              </a:defRPr>
            </a:pPr>
            <a:r>
              <a:t>22 mar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4023360"/>
            <a:ext cx="5029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1E293B"/>
                </a:solidFill>
                <a:latin typeface="Calibri"/>
              </a:defRPr>
            </a:pPr>
            <a:r>
              <a:t>Filtri disponibili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448056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1E293B"/>
                </a:solidFill>
                <a:latin typeface="Calibri"/>
              </a:defRPr>
              <a:buChar char="•"/>
            </a:pPr>
            <a:r>
              <a:t>Per stato: In attesa, Confermata, Rifiutata</a:t>
            </a:r>
          </a:p>
          <a:p>
            <a:pPr>
              <a:spcAft>
                <a:spcPts val="800"/>
              </a:spcAft>
              <a:defRPr sz="1400">
                <a:solidFill>
                  <a:srgbClr val="1E293B"/>
                </a:solidFill>
                <a:latin typeface="Calibri"/>
              </a:defRPr>
              <a:buChar char="•"/>
            </a:pPr>
            <a:r>
              <a:t>Per struttura: Tutti i campi o uno specifico</a:t>
            </a:r>
          </a:p>
          <a:p>
            <a:pPr>
              <a:spcAft>
                <a:spcPts val="800"/>
              </a:spcAft>
              <a:defRPr sz="1400">
                <a:solidFill>
                  <a:srgbClr val="1E293B"/>
                </a:solidFill>
                <a:latin typeface="Calibri"/>
              </a:defRPr>
              <a:buChar char="•"/>
            </a:pPr>
            <a:r>
              <a:t>Pulsante "+ Nuova" per creare una prenotazione manuale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1463040"/>
            <a:ext cx="5029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200" b="1">
                <a:solidFill>
                  <a:srgbClr val="1E293B"/>
                </a:solidFill>
                <a:latin typeface="Calibri"/>
              </a:defRPr>
            </a:pPr>
            <a:r>
              <a:t>Dettaglio prenotazione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0" y="2011680"/>
            <a:ext cx="5029200" cy="4114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766560" y="2194560"/>
            <a:ext cx="2743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000" b="1">
                <a:solidFill>
                  <a:srgbClr val="1E293B"/>
                </a:solidFill>
                <a:latin typeface="Calibri"/>
              </a:defRPr>
            </a:pPr>
            <a:r>
              <a:t>Prenotazione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144000" y="2240280"/>
            <a:ext cx="1097280" cy="320040"/>
          </a:xfrm>
          <a:prstGeom prst="round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59E0B"/>
                </a:solidFill>
              </a:defRPr>
            </a:pPr>
            <a:r>
              <a:t>In attesa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66560" y="2743200"/>
            <a:ext cx="41148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1E293B"/>
                </a:solidFill>
                <a:latin typeface="Calibri"/>
              </a:defRPr>
            </a:pPr>
            <a:r>
              <a:t>👤  Nome del cliente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66560" y="3044952"/>
            <a:ext cx="41148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1E293B"/>
                </a:solidFill>
                <a:latin typeface="Calibri"/>
              </a:defRPr>
            </a:pPr>
            <a:r>
              <a:t>📧  Email di contatto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66560" y="3346704"/>
            <a:ext cx="41148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1E293B"/>
                </a:solidFill>
                <a:latin typeface="Calibri"/>
              </a:defRPr>
            </a:pPr>
            <a:r>
              <a:t>📱  Numero di telefono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66560" y="3950208"/>
            <a:ext cx="41148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1E293B"/>
                </a:solidFill>
                <a:latin typeface="Calibri"/>
              </a:defRPr>
            </a:pPr>
            <a:r>
              <a:t>📍  Campo e tipo di sport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66560" y="4251960"/>
            <a:ext cx="41148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1E293B"/>
                </a:solidFill>
                <a:latin typeface="Calibri"/>
              </a:defRPr>
            </a:pPr>
            <a:r>
              <a:t>🕐  Data e fascia oraria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766560" y="4754880"/>
            <a:ext cx="2103120" cy="50292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✓ Conferma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144000" y="4754880"/>
            <a:ext cx="2103120" cy="502920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✗ Rifiuta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66560" y="5440680"/>
            <a:ext cx="43891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64748B"/>
                </a:solidFill>
                <a:latin typeface="Calibri"/>
              </a:defRPr>
            </a:pPr>
            <a:r>
              <a:t>Puoi anche inserire un motivo di rifiuto (opzionale)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91440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Slot &amp; Orari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058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0">
                <a:solidFill>
                  <a:srgbClr val="64748B"/>
                </a:solidFill>
                <a:latin typeface="Calibri"/>
              </a:defRPr>
            </a:pPr>
            <a:r>
              <a:t>Configura le fasce orarie di apertura e i blocchi per ogni campo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03120"/>
            <a:ext cx="5029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200" b="1">
                <a:solidFill>
                  <a:srgbClr val="1E293B"/>
                </a:solidFill>
                <a:latin typeface="Calibri"/>
              </a:defRPr>
            </a:pPr>
            <a:r>
              <a:t>Fasce di apertura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651760"/>
            <a:ext cx="5029200" cy="3474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05840" y="2834640"/>
            <a:ext cx="1828800" cy="365760"/>
          </a:xfrm>
          <a:prstGeom prst="round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Campo padel 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017520" y="2834640"/>
            <a:ext cx="1828800" cy="365760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1E293B"/>
                </a:solidFill>
              </a:defRPr>
            </a:pPr>
            <a:r>
              <a:t>Campo da calcio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383280"/>
            <a:ext cx="4114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64748B"/>
                </a:solidFill>
                <a:latin typeface="Calibri"/>
              </a:defRPr>
            </a:pPr>
            <a:r>
              <a:t>Seleziona il giorno della settimana: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05840" y="3703320"/>
            <a:ext cx="502920" cy="320040"/>
          </a:xfrm>
          <a:prstGeom prst="round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Lun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00200" y="3703320"/>
            <a:ext cx="502920" cy="320040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1E293B"/>
                </a:solidFill>
              </a:defRPr>
            </a:pPr>
            <a:r>
              <a:t>Mar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194560" y="3703320"/>
            <a:ext cx="502920" cy="320040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1E293B"/>
                </a:solidFill>
              </a:defRPr>
            </a:pPr>
            <a:r>
              <a:t>Mer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88920" y="3703320"/>
            <a:ext cx="502920" cy="320040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1E293B"/>
                </a:solidFill>
              </a:defRPr>
            </a:pPr>
            <a:r>
              <a:t>Gio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83280" y="3703320"/>
            <a:ext cx="502920" cy="320040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1E293B"/>
                </a:solidFill>
              </a:defRPr>
            </a:pPr>
            <a:r>
              <a:t>Ven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977640" y="3703320"/>
            <a:ext cx="502920" cy="320040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1E293B"/>
                </a:solidFill>
              </a:defRPr>
            </a:pPr>
            <a:r>
              <a:t>Sab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0" y="3703320"/>
            <a:ext cx="502920" cy="320040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1E293B"/>
                </a:solidFill>
              </a:defRPr>
            </a:pPr>
            <a:r>
              <a:t>Dom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05840" y="4251960"/>
            <a:ext cx="4114800" cy="457200"/>
          </a:xfrm>
          <a:prstGeom prst="round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E293B"/>
                </a:solidFill>
              </a:defRPr>
            </a:pPr>
            <a:r>
              <a:t>09:00 – 19:00    10.00€/h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4892040"/>
            <a:ext cx="41148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64748B"/>
                </a:solidFill>
                <a:latin typeface="Calibri"/>
              </a:defRPr>
            </a:pPr>
            <a:r>
              <a:t>Per ogni giorno puoi impostare una o più fasce</a:t>
            </a:r>
            <a:br/>
            <a:r>
              <a:t>orarie con il relativo prezzo all'ora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5486400"/>
            <a:ext cx="4114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1A56DB"/>
                </a:solidFill>
                <a:latin typeface="Calibri"/>
              </a:defRPr>
            </a:pPr>
            <a:r>
              <a:t>Clicca "+ Aggiungi fascia" per aggiungerne una nuova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2103120"/>
            <a:ext cx="5029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200" b="1">
                <a:solidFill>
                  <a:srgbClr val="1E293B"/>
                </a:solidFill>
                <a:latin typeface="Calibri"/>
              </a:defRPr>
            </a:pPr>
            <a:r>
              <a:t>Blocchi temporanei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0" y="2651760"/>
            <a:ext cx="5029200" cy="2286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766560" y="2834640"/>
            <a:ext cx="438912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0">
                <a:solidFill>
                  <a:srgbClr val="64748B"/>
                </a:solidFill>
                <a:latin typeface="Calibri"/>
              </a:defRPr>
            </a:pPr>
            <a:r>
              <a:t>Puoi bloccare una fascia oraria specifica</a:t>
            </a:r>
            <a:br/>
            <a:r>
              <a:t>per manutenzione, ferie o altri motivi.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766560" y="3566160"/>
            <a:ext cx="4389120" cy="594360"/>
          </a:xfrm>
          <a:prstGeom prst="round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949440" y="3611880"/>
            <a:ext cx="27432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1E293B"/>
                </a:solidFill>
                <a:latin typeface="Calibri"/>
              </a:defRPr>
            </a:pPr>
            <a:r>
              <a:t>6 marzo 2026  ·  11:00–12:00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49440" y="3840480"/>
            <a:ext cx="27432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64748B"/>
                </a:solidFill>
                <a:latin typeface="Calibri"/>
              </a:defRPr>
            </a:pPr>
            <a:r>
              <a:t>Motivo: Ferie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66560" y="4297680"/>
            <a:ext cx="43891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64748B"/>
                </a:solidFill>
                <a:latin typeface="Calibri"/>
              </a:defRPr>
            </a:pPr>
            <a:r>
              <a:t>I blocchi impediscono agli utenti di prenotare</a:t>
            </a:r>
            <a:br/>
            <a:r>
              <a:t>in quella fascia oraria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0" y="5303520"/>
            <a:ext cx="5029200" cy="1097280"/>
          </a:xfrm>
          <a:prstGeom prst="round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66560" y="5440680"/>
            <a:ext cx="4389120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1E293B"/>
                </a:solidFill>
                <a:latin typeface="Calibri"/>
              </a:defRPr>
            </a:pPr>
            <a:r>
              <a:t>💡 Suggerimento</a:t>
            </a:r>
            <a:br/>
            <a:r>
              <a:t>Configura le fasce orarie per ogni giorno della settimana</a:t>
            </a:r>
            <a:br/>
            <a:r>
              <a:t>separatamente: puoi avere orari diversi nel weekend!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91440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Annunci e Comunicazioni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058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0">
                <a:solidFill>
                  <a:srgbClr val="64748B"/>
                </a:solidFill>
                <a:latin typeface="Calibri"/>
              </a:defRPr>
            </a:pPr>
            <a:r>
              <a:t>Comunica con i tuoi utenti attraverso annunci visibili sul sito pubblico del circolo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03120"/>
            <a:ext cx="5029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200" b="1">
                <a:solidFill>
                  <a:srgbClr val="1E293B"/>
                </a:solidFill>
                <a:latin typeface="Calibri"/>
              </a:defRPr>
            </a:pPr>
            <a:r>
              <a:t>Cosa puoi fare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651760"/>
            <a:ext cx="5029200" cy="3657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834640"/>
            <a:ext cx="4114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1E293B"/>
                </a:solidFill>
                <a:latin typeface="Calibri"/>
              </a:defRPr>
            </a:pPr>
            <a:r>
              <a:t>Crea annunci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108960"/>
            <a:ext cx="41148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64748B"/>
                </a:solidFill>
                <a:latin typeface="Calibri"/>
              </a:defRPr>
            </a:pPr>
            <a:r>
              <a:t>Pubblica comunicazioni per tornei,</a:t>
            </a:r>
            <a:br/>
            <a:r>
              <a:t>eventi o avvisi importanti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657600"/>
            <a:ext cx="4114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1E293B"/>
                </a:solidFill>
                <a:latin typeface="Calibri"/>
              </a:defRPr>
            </a:pPr>
            <a:r>
              <a:t>Pinna in evidenza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931920"/>
            <a:ext cx="41148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64748B"/>
                </a:solidFill>
                <a:latin typeface="Calibri"/>
              </a:defRPr>
            </a:pPr>
            <a:r>
              <a:t>Fissa un annuncio in cima</a:t>
            </a:r>
            <a:br/>
            <a:r>
              <a:t>alla lista per dargli visibilità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4480560"/>
            <a:ext cx="4114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1E293B"/>
                </a:solidFill>
                <a:latin typeface="Calibri"/>
              </a:defRPr>
            </a:pPr>
            <a:r>
              <a:t>Imposta scadenza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4754880"/>
            <a:ext cx="41148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64748B"/>
                </a:solidFill>
                <a:latin typeface="Calibri"/>
              </a:defRPr>
            </a:pPr>
            <a:r>
              <a:t>L'annuncio viene marcato come</a:t>
            </a:r>
            <a:br/>
            <a:r>
              <a:t>"Scaduto" dopo la data scelta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5303520"/>
            <a:ext cx="4114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1E293B"/>
                </a:solidFill>
                <a:latin typeface="Calibri"/>
              </a:defRPr>
            </a:pPr>
            <a:r>
              <a:t>Modifica o elimina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5577840"/>
            <a:ext cx="41148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64748B"/>
                </a:solidFill>
                <a:latin typeface="Calibri"/>
              </a:defRPr>
            </a:pPr>
            <a:r>
              <a:t>Aggiorna il testo o rimuovi</a:t>
            </a:r>
            <a:br/>
            <a:r>
              <a:t>annunci non più necessari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103120"/>
            <a:ext cx="5029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200" b="1">
                <a:solidFill>
                  <a:srgbClr val="1E293B"/>
                </a:solidFill>
                <a:latin typeface="Calibri"/>
              </a:defRPr>
            </a:pPr>
            <a:r>
              <a:t>Esempio annunci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2651760"/>
            <a:ext cx="5029200" cy="1645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00800" y="2651760"/>
            <a:ext cx="91440" cy="164592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766560" y="2788920"/>
            <a:ext cx="2743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700" b="1">
                <a:solidFill>
                  <a:srgbClr val="1E293B"/>
                </a:solidFill>
                <a:latin typeface="Calibri"/>
              </a:defRPr>
            </a:pPr>
            <a:r>
              <a:t>Torneo Calcetto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326880" y="2834640"/>
            <a:ext cx="914400" cy="274320"/>
          </a:xfrm>
          <a:prstGeom prst="round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1A56DB"/>
                </a:solidFill>
              </a:defRPr>
            </a:pPr>
            <a:r>
              <a:t>📌 Pinnato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66560" y="3108960"/>
            <a:ext cx="4114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64748B"/>
                </a:solidFill>
                <a:latin typeface="Calibri"/>
              </a:defRPr>
            </a:pPr>
            <a:r>
              <a:t>Pubblicato il 7 marzo · Scade il 9 marzo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66560" y="3429000"/>
            <a:ext cx="4114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1E293B"/>
                </a:solidFill>
                <a:latin typeface="Calibri"/>
              </a:defRPr>
            </a:pPr>
            <a:r>
              <a:t>A breve usciranno comunicazioni in merito</a:t>
            </a:r>
            <a:br/>
            <a:r>
              <a:t>al calcetto a 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66560" y="3840480"/>
            <a:ext cx="3657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64748B"/>
                </a:solidFill>
                <a:latin typeface="Calibri"/>
              </a:defRPr>
            </a:pPr>
            <a:r>
              <a:t>📌  Pinna    ✏️  Modifica    🗑️  Elimina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0" y="4572000"/>
            <a:ext cx="5029200" cy="1371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400800" y="4572000"/>
            <a:ext cx="91440" cy="13716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0" y="4709160"/>
            <a:ext cx="3200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700" b="1">
                <a:solidFill>
                  <a:srgbClr val="1E293B"/>
                </a:solidFill>
                <a:latin typeface="Calibri"/>
              </a:defRPr>
            </a:pPr>
            <a:r>
              <a:t>Evento torneo tennis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66560" y="5029200"/>
            <a:ext cx="4114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64748B"/>
                </a:solidFill>
                <a:latin typeface="Calibri"/>
              </a:defRPr>
            </a:pPr>
            <a:r>
              <a:t>Pubblicato il 4 marzo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66560" y="5349240"/>
            <a:ext cx="4114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1E293B"/>
                </a:solidFill>
                <a:latin typeface="Calibri"/>
              </a:defRPr>
            </a:pPr>
            <a:r>
              <a:t>Ci sarà un magnifico torneo di tennis!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91440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Impostazioni del Circolo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5029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200" b="1">
                <a:solidFill>
                  <a:srgbClr val="1E293B"/>
                </a:solidFill>
                <a:latin typeface="Calibri"/>
              </a:defRPr>
            </a:pPr>
            <a:r>
              <a:t>Info Circolo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5029200" cy="43891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286000"/>
            <a:ext cx="4114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1">
                <a:solidFill>
                  <a:srgbClr val="1E293B"/>
                </a:solidFill>
                <a:latin typeface="Calibri"/>
              </a:defRPr>
            </a:pPr>
            <a:r>
              <a:t>Testo About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97280" y="2560320"/>
            <a:ext cx="4114800" cy="36576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64748B"/>
                </a:solidFill>
                <a:latin typeface="Calibri"/>
              </a:defRPr>
            </a:pPr>
            <a:r>
              <a:t>Descrivi il tuo circolo ai visitatori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063240"/>
            <a:ext cx="4114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1">
                <a:solidFill>
                  <a:srgbClr val="1E293B"/>
                </a:solidFill>
                <a:latin typeface="Calibri"/>
              </a:defRPr>
            </a:pPr>
            <a:r>
              <a:t>Indirizzo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97280" y="3337560"/>
            <a:ext cx="4114800" cy="36576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64748B"/>
                </a:solidFill>
                <a:latin typeface="Calibri"/>
              </a:defRPr>
            </a:pPr>
            <a:r>
              <a:t>Via, città e coordinate per la mappa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840480"/>
            <a:ext cx="4114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1">
                <a:solidFill>
                  <a:srgbClr val="1E293B"/>
                </a:solidFill>
                <a:latin typeface="Calibri"/>
              </a:defRPr>
            </a:pPr>
            <a:r>
              <a:t>Telefono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97280" y="4114800"/>
            <a:ext cx="4114800" cy="36576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64748B"/>
                </a:solidFill>
                <a:latin typeface="Calibri"/>
              </a:defRPr>
            </a:pPr>
            <a:r>
              <a:t>Numero di contatto del circolo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4617720"/>
            <a:ext cx="4114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1">
                <a:solidFill>
                  <a:srgbClr val="1E293B"/>
                </a:solidFill>
                <a:latin typeface="Calibri"/>
              </a:defRPr>
            </a:pPr>
            <a:r>
              <a:t>Email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97280" y="4892040"/>
            <a:ext cx="4114800" cy="36576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64748B"/>
                </a:solidFill>
                <a:latin typeface="Calibri"/>
              </a:defRPr>
            </a:pPr>
            <a:r>
              <a:t>Indirizzo email per le comunicazioni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5394960"/>
            <a:ext cx="4114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1">
                <a:solidFill>
                  <a:srgbClr val="1E293B"/>
                </a:solidFill>
                <a:latin typeface="Calibri"/>
              </a:defRPr>
            </a:pPr>
            <a:r>
              <a:t>WhatsApp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97280" y="5669280"/>
            <a:ext cx="4114800" cy="36576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64748B"/>
                </a:solidFill>
                <a:latin typeface="Calibri"/>
              </a:defRPr>
            </a:pPr>
            <a:r>
              <a:t>Numero WhatsApp per i clienti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97280" y="5806440"/>
            <a:ext cx="2286000" cy="411480"/>
          </a:xfrm>
          <a:prstGeom prst="round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Salva impostazioni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1463040"/>
            <a:ext cx="5029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200" b="1">
                <a:solidFill>
                  <a:srgbClr val="1E293B"/>
                </a:solidFill>
                <a:latin typeface="Calibri"/>
              </a:defRPr>
            </a:pPr>
            <a:r>
              <a:t>Gestione Strutture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0" y="2011680"/>
            <a:ext cx="5029200" cy="3200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766560" y="2286000"/>
            <a:ext cx="4389120" cy="1005840"/>
          </a:xfrm>
          <a:prstGeom prst="round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040880" y="2377440"/>
            <a:ext cx="2286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1E293B"/>
                </a:solidFill>
                <a:latin typeface="Calibri"/>
              </a:defRPr>
            </a:pPr>
            <a:r>
              <a:t>Campo padel 1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326880" y="2423160"/>
            <a:ext cx="822960" cy="274320"/>
          </a:xfrm>
          <a:prstGeom prst="round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Padel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40880" y="2743200"/>
            <a:ext cx="3657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64748B"/>
                </a:solidFill>
                <a:latin typeface="Calibri"/>
              </a:defRPr>
            </a:pPr>
            <a:r>
              <a:t>Capacità: 8 · ampio campo da padel vista mare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766560" y="3474720"/>
            <a:ext cx="4389120" cy="1005840"/>
          </a:xfrm>
          <a:prstGeom prst="round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040880" y="3566160"/>
            <a:ext cx="2286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1E293B"/>
                </a:solidFill>
                <a:latin typeface="Calibri"/>
              </a:defRPr>
            </a:pPr>
            <a:r>
              <a:t>Campo da calcio 1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326880" y="3611880"/>
            <a:ext cx="914400" cy="27432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Calcetto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40880" y="3931920"/>
            <a:ext cx="3657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64748B"/>
                </a:solidFill>
                <a:latin typeface="Calibri"/>
              </a:defRPr>
            </a:pPr>
            <a:r>
              <a:t>Capacità: 10 · campo da calcetto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766560" y="4754880"/>
            <a:ext cx="4389120" cy="457200"/>
          </a:xfrm>
          <a:prstGeom prst="round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+ Aggiungi struttura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0" y="5486400"/>
            <a:ext cx="5029200" cy="914400"/>
          </a:xfrm>
          <a:prstGeom prst="round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675120" y="5577840"/>
            <a:ext cx="438912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1E293B"/>
                </a:solidFill>
                <a:latin typeface="Calibri"/>
              </a:defRPr>
            </a:pPr>
            <a:r>
              <a:t>💡 Ogni struttura avrà la sua pagina di prenotazione</a:t>
            </a:r>
            <a:br/>
            <a:r>
              <a:t>e i suoi slot orari indipendenti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91440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Come vedono il tuo circolo gli utenti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058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0">
                <a:solidFill>
                  <a:srgbClr val="64748B"/>
                </a:solidFill>
                <a:latin typeface="Calibri"/>
              </a:defRPr>
            </a:pPr>
            <a:r>
              <a:t>Ecco cosa vedono i tuoi clienti quando visitano la pagina del tuo circolo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103120"/>
            <a:ext cx="2468880" cy="2926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691640" y="2377440"/>
            <a:ext cx="548640" cy="548640"/>
          </a:xfrm>
          <a:prstGeom prst="ellipse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063240"/>
            <a:ext cx="21031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000" b="1">
                <a:solidFill>
                  <a:srgbClr val="1E293B"/>
                </a:solidFill>
                <a:latin typeface="Calibri"/>
              </a:defRPr>
            </a:pPr>
            <a:r>
              <a:t>Struttura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474720"/>
            <a:ext cx="210312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300" b="0">
                <a:solidFill>
                  <a:srgbClr val="64748B"/>
                </a:solidFill>
                <a:latin typeface="Calibri"/>
              </a:defRPr>
            </a:pPr>
            <a:r>
              <a:t>L'utente sceglie il campo</a:t>
            </a:r>
            <a:br/>
            <a:r>
              <a:t>o la struttura da prenotare</a:t>
            </a:r>
            <a:br/>
            <a:r>
              <a:t>tra quelli che hai configurato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74720" y="2103120"/>
            <a:ext cx="2468880" cy="2926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434840" y="2377440"/>
            <a:ext cx="548640" cy="548640"/>
          </a:xfrm>
          <a:prstGeom prst="ellipse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3063240"/>
            <a:ext cx="21031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000" b="1">
                <a:solidFill>
                  <a:srgbClr val="1E293B"/>
                </a:solidFill>
                <a:latin typeface="Calibri"/>
              </a:defRPr>
            </a:pPr>
            <a:r>
              <a:t>Data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3474720"/>
            <a:ext cx="210312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300" b="0">
                <a:solidFill>
                  <a:srgbClr val="64748B"/>
                </a:solidFill>
                <a:latin typeface="Calibri"/>
              </a:defRPr>
            </a:pPr>
            <a:r>
              <a:t>Seleziona la data desiderata</a:t>
            </a:r>
            <a:br/>
            <a:r>
              <a:t>nel calendario disponibile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2103120"/>
            <a:ext cx="2468880" cy="2926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178040" y="2377440"/>
            <a:ext cx="548640" cy="548640"/>
          </a:xfrm>
          <a:prstGeom prst="ellipse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3063240"/>
            <a:ext cx="21031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000" b="1">
                <a:solidFill>
                  <a:srgbClr val="1E293B"/>
                </a:solidFill>
                <a:latin typeface="Calibri"/>
              </a:defRPr>
            </a:pPr>
            <a:r>
              <a:t>Orario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3474720"/>
            <a:ext cx="210312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300" b="0">
                <a:solidFill>
                  <a:srgbClr val="64748B"/>
                </a:solidFill>
                <a:latin typeface="Calibri"/>
              </a:defRPr>
            </a:pPr>
            <a:r>
              <a:t>Sceglie la fascia oraria</a:t>
            </a:r>
            <a:br/>
            <a:r>
              <a:t>tra quelle che hai impostato</a:t>
            </a:r>
            <a:br/>
            <a:r>
              <a:t>come disponibili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961120" y="2103120"/>
            <a:ext cx="2468880" cy="2926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921240" y="2377440"/>
            <a:ext cx="548640" cy="548640"/>
          </a:xfrm>
          <a:prstGeom prst="ellipse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0" y="3063240"/>
            <a:ext cx="21031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000" b="1">
                <a:solidFill>
                  <a:srgbClr val="1E293B"/>
                </a:solidFill>
                <a:latin typeface="Calibri"/>
              </a:defRPr>
            </a:pPr>
            <a:r>
              <a:t>Dati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0" y="3474720"/>
            <a:ext cx="210312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300" b="0">
                <a:solidFill>
                  <a:srgbClr val="64748B"/>
                </a:solidFill>
                <a:latin typeface="Calibri"/>
              </a:defRPr>
            </a:pPr>
            <a:r>
              <a:t>Inserisce nome, email e</a:t>
            </a:r>
            <a:br/>
            <a:r>
              <a:t>telefono per completare</a:t>
            </a:r>
            <a:br/>
            <a:r>
              <a:t>la richiesta di prenotazione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63240" y="3063240"/>
            <a:ext cx="457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400" b="1">
                <a:solidFill>
                  <a:srgbClr val="1A56DB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06440" y="3063240"/>
            <a:ext cx="457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400" b="1">
                <a:solidFill>
                  <a:srgbClr val="1A56DB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49640" y="3063240"/>
            <a:ext cx="457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400" b="1">
                <a:solidFill>
                  <a:srgbClr val="1A56DB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5303520"/>
            <a:ext cx="10698480" cy="1188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88720" y="5394960"/>
            <a:ext cx="9601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1E293B"/>
                </a:solidFill>
                <a:latin typeface="Calibri"/>
              </a:defRPr>
            </a:pPr>
            <a:r>
              <a:t>La tua pagina pubblica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88720" y="5715000"/>
            <a:ext cx="96012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64748B"/>
                </a:solidFill>
                <a:latin typeface="Calibri"/>
              </a:defRPr>
            </a:pPr>
            <a:r>
              <a:t>Il tuo circolo ha una pagina dedicata su tuocircolo.prenotauncampetto.it con le info, gli sport e il pulsante "Prenota ora".</a:t>
            </a:r>
            <a:br/>
            <a:r>
              <a:t>Gli utenti possono anche trovarti sulla mappa nazionale su prenotauncampetto.it cercando per sport o città.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10058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1A56DB"/>
                </a:solidFill>
                <a:latin typeface="Calibri"/>
              </a:defRPr>
            </a:pPr>
            <a:r>
              <a:t>prenotauncampetto.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0584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4800" b="1">
                <a:solidFill>
                  <a:srgbClr val="FFFFFF"/>
                </a:solidFill>
                <a:latin typeface="Calibri"/>
              </a:defRPr>
            </a:pPr>
            <a:r>
              <a:t>Sei pronto a gestire</a:t>
            </a:r>
            <a:br/>
            <a:r>
              <a:t>il tuo circolo!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200400"/>
            <a:ext cx="7315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000" b="0">
                <a:solidFill>
                  <a:srgbClr val="64748B"/>
                </a:solidFill>
                <a:latin typeface="Calibri"/>
              </a:defRPr>
            </a:pPr>
            <a:r>
              <a:t>Ricapitolando, con il pannello admin puoi: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840480"/>
            <a:ext cx="7315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0">
                <a:solidFill>
                  <a:srgbClr val="FFFFFF"/>
                </a:solidFill>
                <a:latin typeface="Calibri"/>
              </a:defRPr>
            </a:pPr>
            <a:r>
              <a:t>✓  Monitorare le prenotazioni dalla Dashboard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297680"/>
            <a:ext cx="7315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0">
                <a:solidFill>
                  <a:srgbClr val="FFFFFF"/>
                </a:solidFill>
                <a:latin typeface="Calibri"/>
              </a:defRPr>
            </a:pPr>
            <a:r>
              <a:t>✓  Confermare o rifiutare le prenotazioni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54880"/>
            <a:ext cx="7315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0">
                <a:solidFill>
                  <a:srgbClr val="FFFFFF"/>
                </a:solidFill>
                <a:latin typeface="Calibri"/>
              </a:defRPr>
            </a:pPr>
            <a:r>
              <a:t>✓  Configurare i campi e le fasce orarie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212080"/>
            <a:ext cx="7315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0">
                <a:solidFill>
                  <a:srgbClr val="FFFFFF"/>
                </a:solidFill>
                <a:latin typeface="Calibri"/>
              </a:defRPr>
            </a:pPr>
            <a:r>
              <a:t>✓  Pubblicare annunci per i tuoi utenti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669280"/>
            <a:ext cx="7315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0">
                <a:solidFill>
                  <a:srgbClr val="FFFFFF"/>
                </a:solidFill>
                <a:latin typeface="Calibri"/>
              </a:defRPr>
            </a:pPr>
            <a:r>
              <a:t>✓  Aggiornare le informazioni del circolo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" y="6126480"/>
            <a:ext cx="1828800" cy="4572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6263640"/>
            <a:ext cx="4572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64748B"/>
                </a:solidFill>
                <a:latin typeface="Calibri"/>
              </a:defRPr>
            </a:pPr>
            <a:r>
              <a:t>Hai bisogno di aiuto? Contattaci su prenotauncampetto.it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